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2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4630400" cy="8229600"/>
  <p:notesSz cx="8229600" cy="14630400"/>
  <p:embeddedFontLst>
    <p:embeddedFont>
      <p:font typeface="Aparajita" panose="02020603050405020304" pitchFamily="18" charset="0"/>
      <p:regular r:id="rId10"/>
      <p:bold r:id="rId11"/>
      <p:italic r:id="rId12"/>
      <p:boldItalic r:id="rId13"/>
    </p:embeddedFont>
    <p:embeddedFont>
      <p:font typeface="Bahnschrift SemiBold" panose="020B0502040204020203" pitchFamily="34" charset="0"/>
      <p:bold r:id="rId14"/>
    </p:embeddedFont>
    <p:embeddedFont>
      <p:font typeface="Gelasio" panose="020B0604020202020204" charset="0"/>
      <p:regular r:id="rId15"/>
    </p:embeddedFont>
    <p:embeddedFont>
      <p:font typeface="Gelasio Semi Bold" panose="020B0604020202020204" charset="0"/>
      <p:regular r:id="rId16"/>
    </p:embeddedFont>
    <p:embeddedFont>
      <p:font typeface="Raleway" pitchFamily="2" charset="0"/>
      <p:regular r:id="rId17"/>
      <p:bold r:id="rId18"/>
    </p:embeddedFont>
    <p:embeddedFont>
      <p:font typeface="Roboto" panose="02000000000000000000" pitchFamily="2" charset="0"/>
      <p:regular r:id="rId19"/>
      <p:bold r:id="rId20"/>
    </p:embeddedFont>
    <p:embeddedFont>
      <p:font typeface="Tw Cen MT" panose="020B0602020104020603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53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1215" y="1560942"/>
            <a:ext cx="10427971" cy="3011056"/>
          </a:xfrm>
        </p:spPr>
        <p:txBody>
          <a:bodyPr anchor="b">
            <a:normAutofit/>
          </a:bodyPr>
          <a:lstStyle>
            <a:lvl1pPr algn="ctr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1215" y="4663441"/>
            <a:ext cx="10427971" cy="1645919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804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12436591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990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994276"/>
            <a:ext cx="12422102" cy="3284183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29" y="4388949"/>
            <a:ext cx="12422102" cy="164182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69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6127231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7406640" y="2840511"/>
            <a:ext cx="6126480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265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5594" y="2845222"/>
            <a:ext cx="5848169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1096530" y="3661215"/>
            <a:ext cx="6127232" cy="328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5708" y="2845222"/>
            <a:ext cx="5858165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7406641" y="3661215"/>
            <a:ext cx="6126481" cy="328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256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699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59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731520"/>
            <a:ext cx="4722826" cy="24279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6093675" y="731521"/>
            <a:ext cx="7440196" cy="62179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3159422"/>
            <a:ext cx="4722827" cy="3790018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1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7121963" cy="2427905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09763" y="731521"/>
            <a:ext cx="3906430" cy="621792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3159423"/>
            <a:ext cx="7121939" cy="379001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731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3" y="5147249"/>
            <a:ext cx="12437318" cy="973932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21693" y="837913"/>
            <a:ext cx="11787038" cy="3856963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6130474"/>
            <a:ext cx="12437342" cy="81896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635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19"/>
            <a:ext cx="12437342" cy="4112694"/>
          </a:xfrm>
        </p:spPr>
        <p:txBody>
          <a:bodyPr anchor="ctr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045785"/>
            <a:ext cx="12437342" cy="1903656"/>
          </a:xfrm>
        </p:spPr>
        <p:txBody>
          <a:bodyPr anchor="ctr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312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0"/>
            <a:ext cx="11163302" cy="3591485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332038"/>
            <a:ext cx="10502759" cy="71374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5247356"/>
            <a:ext cx="12437342" cy="170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201786" y="90499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9070" y="359229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7027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2566466"/>
            <a:ext cx="12437342" cy="30142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594802"/>
            <a:ext cx="12437342" cy="1368773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12437342" cy="1926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96529" y="2840512"/>
            <a:ext cx="395877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96529" y="3532027"/>
            <a:ext cx="395877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2868" y="2840512"/>
            <a:ext cx="3949825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29618" y="3532027"/>
            <a:ext cx="396402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7" y="2840512"/>
            <a:ext cx="396591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567957" y="3532027"/>
            <a:ext cx="3965914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307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96529" y="732927"/>
            <a:ext cx="12437342" cy="19247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6529" y="5045784"/>
            <a:ext cx="395569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6529" y="2840512"/>
            <a:ext cx="3955691" cy="18288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6529" y="5737298"/>
            <a:ext cx="3955691" cy="1212142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1311" y="5045784"/>
            <a:ext cx="396219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329618" y="2840512"/>
            <a:ext cx="3964022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29618" y="5737297"/>
            <a:ext cx="3964022" cy="1212143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8" y="5045784"/>
            <a:ext cx="3960817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567957" y="2840512"/>
            <a:ext cx="3965914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67808" y="5737294"/>
            <a:ext cx="3966064" cy="1212145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191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2840512"/>
            <a:ext cx="12437342" cy="4108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495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731522"/>
            <a:ext cx="3063991" cy="621791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731522"/>
            <a:ext cx="9190469" cy="62179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06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718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557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93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862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891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874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132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630404" cy="822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30" y="2840512"/>
            <a:ext cx="12437342" cy="4108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4484" y="705993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530" y="7059931"/>
            <a:ext cx="800746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4" y="7059931"/>
            <a:ext cx="91705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51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  <p:sldLayoutId id="2147483846" r:id="rId17"/>
    <p:sldLayoutId id="2147483847" r:id="rId18"/>
    <p:sldLayoutId id="2147483848" r:id="rId19"/>
    <p:sldLayoutId id="2147483849" r:id="rId20"/>
    <p:sldLayoutId id="2147483850" r:id="rId21"/>
    <p:sldLayoutId id="2147483851" r:id="rId22"/>
    <p:sldLayoutId id="2147483852" r:id="rId23"/>
    <p:sldLayoutId id="2147483854" r:id="rId24"/>
  </p:sldLayoutIdLst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432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216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92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7015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Chatbot in Java: Bridging the Gap Between Humans and Machines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500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Members: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1" y="4968121"/>
            <a:ext cx="5751976" cy="229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 no.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		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</a:t>
            </a:r>
          </a:p>
          <a:p>
            <a:pPr marL="342900" indent="-342900" algn="l">
              <a:lnSpc>
                <a:spcPts val="2850"/>
              </a:lnSpc>
              <a:buAutoNum type="arabicPlain" startAt="110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		Soham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Wagale</a:t>
            </a: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850"/>
              </a:lnSpc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113 		Vinay Mante</a:t>
            </a:r>
          </a:p>
          <a:p>
            <a:pPr marL="342900" indent="-342900" algn="l">
              <a:lnSpc>
                <a:spcPts val="2850"/>
              </a:lnSpc>
              <a:buAutoNum type="arabicPlain" startAt="123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		Vaishnavi Shinde</a:t>
            </a:r>
          </a:p>
          <a:p>
            <a:pPr marL="342900" indent="-342900" algn="l">
              <a:lnSpc>
                <a:spcPts val="2850"/>
              </a:lnSpc>
              <a:buAutoNum type="arabicPlain" startAt="123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		Harshada Jadhav</a:t>
            </a:r>
          </a:p>
          <a:p>
            <a:pPr marL="342900" indent="-342900" algn="l">
              <a:lnSpc>
                <a:spcPts val="2850"/>
              </a:lnSpc>
              <a:buAutoNum type="arabicPlain" startAt="110"/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36F95-C537-8002-D3F4-052FDCD6BC6B}"/>
              </a:ext>
            </a:extLst>
          </p:cNvPr>
          <p:cNvSpPr txBox="1"/>
          <p:nvPr/>
        </p:nvSpPr>
        <p:spPr>
          <a:xfrm>
            <a:off x="793790" y="3949958"/>
            <a:ext cx="2631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Bahnschrift SemiBold" panose="020B0502040204020203" pitchFamily="34" charset="0"/>
              </a:rPr>
              <a:t>INNOVATORS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89" y="50149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Introduction: The Rise of Conversational AI and Our Project's Vision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362200"/>
            <a:ext cx="6408063" cy="2247900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584430"/>
            <a:ext cx="35554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AI Chatbots Today</a:t>
            </a:r>
            <a:endParaRPr lang="en-US" sz="2400" b="1" dirty="0"/>
          </a:p>
        </p:txBody>
      </p:sp>
      <p:sp>
        <p:nvSpPr>
          <p:cNvPr id="6" name="Text 3"/>
          <p:cNvSpPr/>
          <p:nvPr/>
        </p:nvSpPr>
        <p:spPr>
          <a:xfrm>
            <a:off x="1028223" y="3204746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AI chatbots have transformed customer service, personal assistance, and information retrieval, radically enhancing user engagement across industries.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93788" y="5821620"/>
            <a:ext cx="6521412" cy="2247900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1028104" y="5939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Vision</a:t>
            </a:r>
            <a:endParaRPr lang="en-US" sz="2200" b="1" dirty="0"/>
          </a:p>
        </p:txBody>
      </p:sp>
      <p:sp>
        <p:nvSpPr>
          <p:cNvPr id="9" name="Text 6"/>
          <p:cNvSpPr/>
          <p:nvPr/>
        </p:nvSpPr>
        <p:spPr>
          <a:xfrm>
            <a:off x="1028224" y="641109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latin typeface="Gelasio" panose="020B0604020202020204" charset="0"/>
                <a:cs typeface="Gelasio" panose="020B0604020202020204" charset="0"/>
              </a:rPr>
              <a:t>This project demonstrates a simple desktop-based AI chatbot built in Java, utilizing a local </a:t>
            </a:r>
            <a:r>
              <a:rPr lang="en-US" sz="1800" dirty="0" err="1">
                <a:latin typeface="Gelasio" panose="020B0604020202020204" charset="0"/>
                <a:cs typeface="Gelasio" panose="020B0604020202020204" charset="0"/>
              </a:rPr>
              <a:t>Ollama</a:t>
            </a:r>
            <a:r>
              <a:rPr lang="en-US" sz="1800" dirty="0">
                <a:latin typeface="Gelasio" panose="020B0604020202020204" charset="0"/>
                <a:cs typeface="Gelasio" panose="020B0604020202020204" charset="0"/>
              </a:rPr>
              <a:t> server hosting the llama3.2 model. It features a clean graphical interface with real-time interaction and streaming response handling</a:t>
            </a:r>
            <a:r>
              <a:rPr lang="en-US" sz="1800" dirty="0"/>
              <a:t>.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2C58FC22-5E95-E999-745F-EA5E96AEE67C}"/>
              </a:ext>
            </a:extLst>
          </p:cNvPr>
          <p:cNvSpPr/>
          <p:nvPr/>
        </p:nvSpPr>
        <p:spPr>
          <a:xfrm>
            <a:off x="6795016" y="4048125"/>
            <a:ext cx="7041594" cy="2186196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0A9B4E-8E4A-E05D-27BB-5B884C5F486B}"/>
              </a:ext>
            </a:extLst>
          </p:cNvPr>
          <p:cNvSpPr txBox="1"/>
          <p:nvPr/>
        </p:nvSpPr>
        <p:spPr>
          <a:xfrm>
            <a:off x="7201853" y="4879924"/>
            <a:ext cx="64004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Leveraging Java's robustness and portability ensures that our chatbot is flexible and easy to integrate, opening doors for future scalability and platform independence.</a:t>
            </a:r>
            <a:endParaRPr lang="en-US" sz="1800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F9319D-29F2-6134-513B-C6413A1D8184}"/>
              </a:ext>
            </a:extLst>
          </p:cNvPr>
          <p:cNvSpPr txBox="1"/>
          <p:nvPr/>
        </p:nvSpPr>
        <p:spPr>
          <a:xfrm>
            <a:off x="7315199" y="4332326"/>
            <a:ext cx="2730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Why Java?</a:t>
            </a:r>
            <a:endParaRPr lang="en-US" sz="1800" b="1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0203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Objectives: Building an Intelligent and User-Friendly Chatbot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685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3546396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Natural Language Understanding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391144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chatbot to comprehend, process, and respond accurately to queries.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34685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0919" y="35463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Easy Integration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4036814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flexible architecture for seamless embedding into various platforms.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29638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6374249"/>
            <a:ext cx="35387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Enhanced User Experience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86466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responsiveness, clarity, and helpful conversations.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362" y="57626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System Architecture: Components and Data Flow of Our AI Chatbot</a:t>
            </a:r>
            <a:endParaRPr lang="en-US" sz="4450" dirty="0"/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18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Frontend (Java Swing):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7362" y="3406735"/>
            <a:ext cx="3978116" cy="424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Handles UI components and user input/output display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932878" y="2807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Backend (</a:t>
            </a:r>
            <a:r>
              <a:rPr lang="en-US" sz="220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Ollama</a:t>
            </a: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):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32878" y="3424475"/>
            <a:ext cx="3978116" cy="424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Receives user prompts through HTTP POST, processes using a local LLM, and streams output.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586317" y="2807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Communication: 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86317" y="3368635"/>
            <a:ext cx="3978116" cy="2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Performed using Java's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HttpClient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with streamed JSON parsing for real-time interaction.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065" y="562213"/>
            <a:ext cx="7717869" cy="190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00" b="1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Chatbot in Action: Demo and Explanation of Conversational Flow</a:t>
            </a:r>
            <a:endParaRPr lang="en-US" sz="4000" b="1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65" y="2777609"/>
            <a:ext cx="1018699" cy="12224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37278" y="2981325"/>
            <a:ext cx="2546747" cy="581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Input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2037278" y="3421737"/>
            <a:ext cx="639365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 text and tokenize for processing.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65" y="4000024"/>
            <a:ext cx="1018699" cy="12224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37278" y="4203740"/>
            <a:ext cx="2546747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Intent Recognition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2037278" y="4644152"/>
            <a:ext cx="639365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 user intent using pattern matching.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065" y="5222438"/>
            <a:ext cx="1018699" cy="12224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37278" y="5426154"/>
            <a:ext cx="2546747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Response Generation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037278" y="5866567"/>
            <a:ext cx="639365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appropriate reply from predefined responses.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065" y="6444853"/>
            <a:ext cx="1018699" cy="12224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037278" y="6648569"/>
            <a:ext cx="2546747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 Delivery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2037278" y="7088981"/>
            <a:ext cx="639365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 message back to the user interface.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6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Core Java Concepts: Powering the Chatbot's Intelligence</a:t>
            </a:r>
            <a:endParaRPr lang="en-US" sz="4450" dirty="0"/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044178" y="3215878"/>
            <a:ext cx="39884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Object-Oriented</a:t>
            </a:r>
            <a:r>
              <a:rPr lang="en-US" sz="22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2200" b="1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Programming</a:t>
            </a:r>
            <a:endParaRPr lang="en-US" sz="2200" b="1" dirty="0"/>
          </a:p>
        </p:txBody>
      </p:sp>
      <p:sp>
        <p:nvSpPr>
          <p:cNvPr id="4" name="Text 2"/>
          <p:cNvSpPr/>
          <p:nvPr/>
        </p:nvSpPr>
        <p:spPr>
          <a:xfrm>
            <a:off x="793790" y="3706297"/>
            <a:ext cx="4238863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Encapsulates chatbot components like user interface and processing engine into reusable, modular classes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24362" y="401978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597628" y="3215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Data</a:t>
            </a:r>
            <a:r>
              <a:rPr lang="en-US" sz="22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2200" b="1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Structures</a:t>
            </a:r>
            <a:endParaRPr lang="en-US" sz="2200" b="1" dirty="0"/>
          </a:p>
        </p:txBody>
      </p:sp>
      <p:sp>
        <p:nvSpPr>
          <p:cNvPr id="8" name="Text 5"/>
          <p:cNvSpPr/>
          <p:nvPr/>
        </p:nvSpPr>
        <p:spPr>
          <a:xfrm>
            <a:off x="9597628" y="3706297"/>
            <a:ext cx="4238982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Uses arrays and Array Lists to store conversation templates and dynamic user data efficiently.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/>
              <a:t> </a:t>
            </a: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86713" y="401978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9597628" y="56684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Exception</a:t>
            </a:r>
            <a:r>
              <a:rPr lang="en-US" sz="22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2200" b="1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Handling</a:t>
            </a:r>
            <a:endParaRPr lang="en-US" sz="2200" b="1" dirty="0"/>
          </a:p>
        </p:txBody>
      </p:sp>
      <p:sp>
        <p:nvSpPr>
          <p:cNvPr id="12" name="Text 8"/>
          <p:cNvSpPr/>
          <p:nvPr/>
        </p:nvSpPr>
        <p:spPr>
          <a:xfrm>
            <a:off x="9597628" y="6158865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latin typeface="Roboto" pitchFamily="34" charset="0"/>
                <a:ea typeface="Roboto" pitchFamily="34" charset="-122"/>
                <a:cs typeface="Roboto" pitchFamily="34" charset="-120"/>
              </a:rPr>
              <a:t>Robust control improving chatbot stability error.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86713" y="568213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2197418" y="56767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latin typeface="Raleway" panose="020F0502020204030204" pitchFamily="2" charset="0"/>
                <a:ea typeface="Gelasio Semi Bold" pitchFamily="34" charset="-122"/>
                <a:cs typeface="Gelasio Semi Bold" pitchFamily="34" charset="-120"/>
              </a:rPr>
              <a:t>Control Flow Statements</a:t>
            </a:r>
            <a:endParaRPr lang="en-US" sz="2200" b="1" dirty="0">
              <a:latin typeface="Raleway" panose="020F0502020204030204" pitchFamily="2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93790" y="6076032"/>
            <a:ext cx="4238863" cy="1523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Implements decision-making </a:t>
            </a:r>
          </a:p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using if-else and switch </a:t>
            </a:r>
          </a:p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latin typeface="Gelasio" pitchFamily="34" charset="0"/>
                <a:ea typeface="Gelasio" pitchFamily="34" charset="-122"/>
                <a:cs typeface="Gelasio" pitchFamily="34" charset="-120"/>
              </a:rPr>
              <a:t>cases to determine chatbot responses</a:t>
            </a:r>
            <a:r>
              <a:rPr lang="en-US" sz="1750" dirty="0"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24362" y="568213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1E7FA59E-3A58-0E3F-9E0C-D4AE9E286240}"/>
              </a:ext>
            </a:extLst>
          </p:cNvPr>
          <p:cNvSpPr/>
          <p:nvPr/>
        </p:nvSpPr>
        <p:spPr>
          <a:xfrm>
            <a:off x="1483112" y="2799479"/>
            <a:ext cx="6434254" cy="2126337"/>
          </a:xfrm>
          <a:prstGeom prst="homePlat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reflection blurRad="6350" stA="50000" endA="300" endPos="50000" dist="29997" dir="5400000" sy="-100000" algn="bl" rotWithShape="0"/>
              </a:effectLst>
            </a:endParaRPr>
          </a:p>
        </p:txBody>
      </p:sp>
      <p:sp>
        <p:nvSpPr>
          <p:cNvPr id="3" name="Text 0"/>
          <p:cNvSpPr/>
          <p:nvPr/>
        </p:nvSpPr>
        <p:spPr>
          <a:xfrm>
            <a:off x="492243" y="275659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prstTxWarp prst="textTriangle">
              <a:avLst/>
            </a:prstTxWarp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9600" dirty="0">
                <a:solidFill>
                  <a:srgbClr val="1B1B27"/>
                </a:solidFill>
                <a:latin typeface="Aparajita" panose="02020603050405020304" pitchFamily="18" charset="0"/>
                <a:ea typeface="Raleway" pitchFamily="34" charset="-122"/>
                <a:cs typeface="Aparajita" panose="02020603050405020304" pitchFamily="18" charset="0"/>
              </a:rPr>
              <a:t>Thank You</a:t>
            </a:r>
            <a:endParaRPr lang="en-US" sz="96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106</TotalTime>
  <Words>378</Words>
  <Application>Microsoft Office PowerPoint</Application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Roboto</vt:lpstr>
      <vt:lpstr>Bahnschrift SemiBold</vt:lpstr>
      <vt:lpstr>Gelasio Semi Bold</vt:lpstr>
      <vt:lpstr>Arial</vt:lpstr>
      <vt:lpstr>Raleway</vt:lpstr>
      <vt:lpstr>Gelasio</vt:lpstr>
      <vt:lpstr>Aparajita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Vaibhavi Shinde</cp:lastModifiedBy>
  <cp:revision>5</cp:revision>
  <dcterms:created xsi:type="dcterms:W3CDTF">2025-05-14T05:36:46Z</dcterms:created>
  <dcterms:modified xsi:type="dcterms:W3CDTF">2025-05-15T04:18:58Z</dcterms:modified>
</cp:coreProperties>
</file>